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523"/>
    <p:restoredTop sz="94610"/>
  </p:normalViewPr>
  <p:slideViewPr>
    <p:cSldViewPr snapToGrid="0" snapToObjects="1">
      <p:cViewPr>
        <p:scale>
          <a:sx n="106" d="100"/>
          <a:sy n="106" d="100"/>
        </p:scale>
        <p:origin x="888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7759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Lyhyt avaus: kuka olen ja miksi olen täällä. FAIR on EU:n osarahoittama digitaalinen innovaatiokeskus, EDIH. Suurin osa palveluista on asiakasyritykselle maksuttomia. Kesto noin 10 minuuttia, kysymykset lopussa.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EDIH on EU:n rahoittama palvelupiste, ei konsulttitalo. Rahoitus tulee EU:lta ja partneriorganisaatioilta, joten asiakas ei maksa. Vastineeksi kerätään vaikuttavuustietoa ja odotetaan, että osaaminen jää yritykseen.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Tämä on yleisön ensimmäinen vastaväite, joten se kannattaa nostaa itse esiin. Rehellinen muotoilu: partnerit ovat etelässä ja Tampereella, mutta palvelut ovat valtakunnallisia ja Tampereen yliopisto on lähin tiimi. Suomessa toimii useita EDIH-keskuksia, joten tarvittaessa ohjaamme oikean luukun luo.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Kolme palveluperhettä vastaavat FAIR:in sivuston jaottelua. Useimmat asiakkuudet alkavat vasemmalta ja etenevät oikealle, mutta yritys voi tulla mukaan mistä tahansa kohdasta. Alarivi on tärkeä: kaikkea ei tarvitse hakea, osa on avointa kaikille.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Tämä on esityksen tärkein kalvo. Luvut ovat FAIR:in oman Palveluiden arvo -sivun mukaiset. Korosta, että kyse ei ole alennuksesta vaan EU-rahoitteisesta palvelusta. Mainitse myös rehellisesti omavastuu laajimmissa toimeksiannoissa.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Neljä askelta noudattavat FAIR:in omaa prosessikuvausta sivulla Näin haet asiakkaaksi. Painota, että lomakkeen täyttäminen ei sido mihinkään ja että tarvekartoituksesta saa kirjallisen yhteenvedon myös silloin, kun yhteistyö ei etene.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Vasen sarake asettaa realistiset odotukset, oikea poistaa painetta. Tämä kalvo on tarkoitettu myös niille, jotka eivät ole vielä valmiita hakemaan asiakkaaksi.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Sulje kehotukseen: skannaa koodi nyt tai ota yhteyttä minuun suoraan. Lisää tähän kalvoon oma nimi, sähköposti ja puhelinnumero ennen esitystä.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kstiruutu 2">
            <a:extLst>
              <a:ext uri="{FF2B5EF4-FFF2-40B4-BE49-F238E27FC236}">
                <a16:creationId xmlns:a16="http://schemas.microsoft.com/office/drawing/2014/main" id="{83DC8079-E257-C992-F35C-03BDBE1448E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9561513" y="63500"/>
            <a:ext cx="2595562" cy="16764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i-FI" sz="11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TUNI Luottamuksellinen - Confidential (3Y)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fair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403" y="1632178"/>
            <a:ext cx="4460673" cy="16851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224028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Mikä</a:t>
            </a: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ihmeen</a:t>
            </a: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                           ?</a:t>
            </a:r>
            <a:endParaRPr lang="en-US" sz="4600" dirty="0"/>
          </a:p>
        </p:txBody>
      </p:sp>
      <p:sp>
        <p:nvSpPr>
          <p:cNvPr id="4" name="Text 1"/>
          <p:cNvSpPr/>
          <p:nvPr/>
        </p:nvSpPr>
        <p:spPr>
          <a:xfrm>
            <a:off x="640080" y="30632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40080" y="3553543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D3C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Finnish AI Region on Euroopan unionin osarahoittama digitaalinen innovaatiokeskus. Autamme yrityksiä ottamaan tekoälyn käyttöön nopeammin ja pienemmällä riskillä.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40080" y="598932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Seinäjoki, elokuu 2026   |   GPT-Lab, Tampereen yliopisto</a:t>
            </a:r>
            <a:endParaRPr lang="en-US" sz="1200" dirty="0"/>
          </a:p>
        </p:txBody>
      </p:sp>
      <p:pic>
        <p:nvPicPr>
          <p:cNvPr id="7" name="Image 1" descr="assets/eu_fi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0" y="5715000"/>
            <a:ext cx="658368" cy="667512"/>
          </a:xfrm>
          <a:prstGeom prst="rect">
            <a:avLst/>
          </a:prstGeom>
        </p:spPr>
      </p:pic>
      <p:grpSp>
        <p:nvGrpSpPr>
          <p:cNvPr id="8" name="Group 82">
            <a:extLst>
              <a:ext uri="{FF2B5EF4-FFF2-40B4-BE49-F238E27FC236}">
                <a16:creationId xmlns:a16="http://schemas.microsoft.com/office/drawing/2014/main" id="{6B794948-7B04-805A-AFC4-F8DF7ABC109B}"/>
              </a:ext>
            </a:extLst>
          </p:cNvPr>
          <p:cNvGrpSpPr/>
          <p:nvPr/>
        </p:nvGrpSpPr>
        <p:grpSpPr>
          <a:xfrm>
            <a:off x="6717142" y="5572690"/>
            <a:ext cx="3848990" cy="1114319"/>
            <a:chOff x="8597110" y="6257973"/>
            <a:chExt cx="5131986" cy="1485758"/>
          </a:xfrm>
        </p:grpSpPr>
        <p:sp>
          <p:nvSpPr>
            <p:cNvPr id="9" name="Freeform 83">
              <a:extLst>
                <a:ext uri="{FF2B5EF4-FFF2-40B4-BE49-F238E27FC236}">
                  <a16:creationId xmlns:a16="http://schemas.microsoft.com/office/drawing/2014/main" id="{73F131A9-7B11-414A-3FAF-F8AF2FC084C3}"/>
                </a:ext>
              </a:extLst>
            </p:cNvPr>
            <p:cNvSpPr/>
            <p:nvPr/>
          </p:nvSpPr>
          <p:spPr>
            <a:xfrm>
              <a:off x="12082327" y="6257973"/>
              <a:ext cx="1646769" cy="1485758"/>
            </a:xfrm>
            <a:custGeom>
              <a:avLst/>
              <a:gdLst/>
              <a:ahLst/>
              <a:cxnLst/>
              <a:rect l="l" t="t" r="r" b="b"/>
              <a:pathLst>
                <a:path w="1239711" h="1239711">
                  <a:moveTo>
                    <a:pt x="0" y="0"/>
                  </a:moveTo>
                  <a:lnTo>
                    <a:pt x="1239711" y="0"/>
                  </a:lnTo>
                  <a:lnTo>
                    <a:pt x="1239711" y="1239711"/>
                  </a:lnTo>
                  <a:lnTo>
                    <a:pt x="0" y="12397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fi-FI" noProof="0" dirty="0"/>
            </a:p>
          </p:txBody>
        </p:sp>
        <p:sp>
          <p:nvSpPr>
            <p:cNvPr id="10" name="Freeform 84">
              <a:extLst>
                <a:ext uri="{FF2B5EF4-FFF2-40B4-BE49-F238E27FC236}">
                  <a16:creationId xmlns:a16="http://schemas.microsoft.com/office/drawing/2014/main" id="{0E560FA0-1E8C-D9C0-5209-D1A0A61BA875}"/>
                </a:ext>
              </a:extLst>
            </p:cNvPr>
            <p:cNvSpPr/>
            <p:nvPr/>
          </p:nvSpPr>
          <p:spPr>
            <a:xfrm>
              <a:off x="8597110" y="6370489"/>
              <a:ext cx="3275065" cy="1044480"/>
            </a:xfrm>
            <a:custGeom>
              <a:avLst/>
              <a:gdLst/>
              <a:ahLst/>
              <a:cxnLst/>
              <a:rect l="l" t="t" r="r" b="b"/>
              <a:pathLst>
                <a:path w="3275065" h="1044480">
                  <a:moveTo>
                    <a:pt x="0" y="0"/>
                  </a:moveTo>
                  <a:lnTo>
                    <a:pt x="3275065" y="0"/>
                  </a:lnTo>
                  <a:lnTo>
                    <a:pt x="3275065" y="1044480"/>
                  </a:lnTo>
                  <a:lnTo>
                    <a:pt x="0" y="10444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fi-FI" noProof="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Mikä FAIR on?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2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Finnish AI Region - FAIR</a:t>
            </a:r>
            <a:r>
              <a:rPr lang="en-US" sz="1500" dirty="0">
                <a:solidFill>
                  <a:srgbClr val="12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yksi Euroopan digitaalisista innovaatiokeskuksista (EDIH). Verkosto perustettiin EU:n Digitaalinen Eurooppa -ohjelmassa madaltamaan kynnystä ottaa edistynyttä teknologiaa käyttöön.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2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Käytännössä saat käyttöösi yliopistojen ja tutkimuslaitosten asiantuntijat ilman konsulttilaskua. Vastineeksi EU odottaa, </a:t>
            </a:r>
            <a:r>
              <a:rPr lang="en-US" sz="1500" dirty="0" err="1">
                <a:solidFill>
                  <a:srgbClr val="12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että</a:t>
            </a:r>
            <a:r>
              <a:rPr lang="en-US" sz="1500" dirty="0">
                <a:solidFill>
                  <a:srgbClr val="12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dirty="0" err="1">
                <a:solidFill>
                  <a:srgbClr val="12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osaaminen</a:t>
            </a:r>
            <a:r>
              <a:rPr lang="en-US" sz="1500" dirty="0">
                <a:solidFill>
                  <a:srgbClr val="121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 kokemus jää yritykseen ja leviää eteenpäin.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092440" y="1371600"/>
            <a:ext cx="3429000" cy="1783080"/>
          </a:xfrm>
          <a:prstGeom prst="roundRect">
            <a:avLst>
              <a:gd name="adj" fmla="val 6154"/>
            </a:avLst>
          </a:prstGeom>
          <a:solidFill>
            <a:srgbClr val="0C1728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6" name="Text 4"/>
          <p:cNvSpPr/>
          <p:nvPr/>
        </p:nvSpPr>
        <p:spPr>
          <a:xfrm>
            <a:off x="8092440" y="1508760"/>
            <a:ext cx="3429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C39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0 €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75320" y="23774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useimpien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palveluidemme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1F3F6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9" name="Shape 7"/>
          <p:cNvSpPr/>
          <p:nvPr/>
        </p:nvSpPr>
        <p:spPr>
          <a:xfrm>
            <a:off x="896112" y="3941064"/>
            <a:ext cx="384048" cy="384048"/>
          </a:xfrm>
          <a:prstGeom prst="ellipse">
            <a:avLst/>
          </a:prstGeom>
          <a:solidFill>
            <a:srgbClr val="C3932F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10" name="Text 8"/>
          <p:cNvSpPr/>
          <p:nvPr/>
        </p:nvSpPr>
        <p:spPr>
          <a:xfrm>
            <a:off x="896112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96112" y="4453128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Tekoäly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96112" y="4892040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Koneoppiminen, generatiivinen tekoäly ja älykäs automaatio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465576" y="370332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1F3F6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14" name="Shape 12"/>
          <p:cNvSpPr/>
          <p:nvPr/>
        </p:nvSpPr>
        <p:spPr>
          <a:xfrm>
            <a:off x="3721608" y="3941064"/>
            <a:ext cx="384048" cy="384048"/>
          </a:xfrm>
          <a:prstGeom prst="ellipse">
            <a:avLst/>
          </a:prstGeom>
          <a:solidFill>
            <a:srgbClr val="C3932F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15" name="Text 13"/>
          <p:cNvSpPr/>
          <p:nvPr/>
        </p:nvSpPr>
        <p:spPr>
          <a:xfrm>
            <a:off x="3721608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721608" y="4453128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Suurteholaskenta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3721608" y="4892040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Laskentakapasiteetti raskaaseen datan käsittelyyn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91072" y="370332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1F3F6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19" name="Shape 17"/>
          <p:cNvSpPr/>
          <p:nvPr/>
        </p:nvSpPr>
        <p:spPr>
          <a:xfrm>
            <a:off x="6547104" y="3941064"/>
            <a:ext cx="384048" cy="384048"/>
          </a:xfrm>
          <a:prstGeom prst="ellipse">
            <a:avLst/>
          </a:prstGeom>
          <a:solidFill>
            <a:srgbClr val="C3932F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20" name="Text 18"/>
          <p:cNvSpPr/>
          <p:nvPr/>
        </p:nvSpPr>
        <p:spPr>
          <a:xfrm>
            <a:off x="6547104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47104" y="4453128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Laajennettu todellisuus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6547104" y="4892040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VR, AR ja immersiiviset sovellukset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116568" y="3703320"/>
            <a:ext cx="2606040" cy="1828800"/>
          </a:xfrm>
          <a:prstGeom prst="roundRect">
            <a:avLst>
              <a:gd name="adj" fmla="val 5000"/>
            </a:avLst>
          </a:prstGeom>
          <a:solidFill>
            <a:srgbClr val="F1F3F6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24" name="Shape 22"/>
          <p:cNvSpPr/>
          <p:nvPr/>
        </p:nvSpPr>
        <p:spPr>
          <a:xfrm>
            <a:off x="9372600" y="3941064"/>
            <a:ext cx="384048" cy="384048"/>
          </a:xfrm>
          <a:prstGeom prst="ellipse">
            <a:avLst/>
          </a:prstGeom>
          <a:solidFill>
            <a:srgbClr val="C3932F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25" name="Text 23"/>
          <p:cNvSpPr/>
          <p:nvPr/>
        </p:nvSpPr>
        <p:spPr>
          <a:xfrm>
            <a:off x="937260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372600" y="4453128"/>
            <a:ext cx="2093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Kyberturvallisuus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9372600" y="4892040"/>
            <a:ext cx="20939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Tekoälyratkaisujen ja datan turvallisuus</a:t>
            </a:r>
            <a:endParaRPr lang="en-US" sz="1150" dirty="0"/>
          </a:p>
        </p:txBody>
      </p:sp>
      <p:pic>
        <p:nvPicPr>
          <p:cNvPr id="28" name="Image 0" descr="assets/eu_fi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053328"/>
            <a:ext cx="566928" cy="576072"/>
          </a:xfrm>
          <a:prstGeom prst="rect">
            <a:avLst/>
          </a:prstGeom>
        </p:spPr>
      </p:pic>
      <p:pic>
        <p:nvPicPr>
          <p:cNvPr id="29" name="Image 1" descr="assets/fair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6199632"/>
            <a:ext cx="914400" cy="274320"/>
          </a:xfrm>
          <a:prstGeom prst="rect">
            <a:avLst/>
          </a:prstGeom>
        </p:spPr>
      </p:pic>
      <p:sp>
        <p:nvSpPr>
          <p:cNvPr id="31" name="Freeform 83">
            <a:extLst>
              <a:ext uri="{FF2B5EF4-FFF2-40B4-BE49-F238E27FC236}">
                <a16:creationId xmlns:a16="http://schemas.microsoft.com/office/drawing/2014/main" id="{D00A0718-6C03-885C-9FB2-E6AA5A9294F6}"/>
              </a:ext>
            </a:extLst>
          </p:cNvPr>
          <p:cNvSpPr/>
          <p:nvPr/>
        </p:nvSpPr>
        <p:spPr>
          <a:xfrm>
            <a:off x="10583861" y="5642472"/>
            <a:ext cx="1235077" cy="1114319"/>
          </a:xfrm>
          <a:custGeom>
            <a:avLst/>
            <a:gdLst/>
            <a:ahLst/>
            <a:cxnLst/>
            <a:rect l="l" t="t" r="r" b="b"/>
            <a:pathLst>
              <a:path w="1239711" h="1239711">
                <a:moveTo>
                  <a:pt x="0" y="0"/>
                </a:moveTo>
                <a:lnTo>
                  <a:pt x="1239711" y="0"/>
                </a:lnTo>
                <a:lnTo>
                  <a:pt x="1239711" y="1239711"/>
                </a:lnTo>
                <a:lnTo>
                  <a:pt x="0" y="1239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i-FI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Kuka voi olla asiakas?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2093976"/>
            <a:ext cx="457200" cy="457200"/>
          </a:xfrm>
          <a:prstGeom prst="ellipse">
            <a:avLst/>
          </a:prstGeom>
          <a:solidFill>
            <a:srgbClr val="C3932F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4" name="Text 2"/>
          <p:cNvSpPr/>
          <p:nvPr/>
        </p:nvSpPr>
        <p:spPr>
          <a:xfrm>
            <a:off x="640080" y="2093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80160" y="20574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Pienet ja keskisuuret yritykset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24414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 250 henkeä. Verkoston selkeästi suurin asiakasryhmä.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236976"/>
            <a:ext cx="457200" cy="457200"/>
          </a:xfrm>
          <a:prstGeom prst="ellipse">
            <a:avLst/>
          </a:prstGeom>
          <a:solidFill>
            <a:srgbClr val="C3932F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8" name="Text 6"/>
          <p:cNvSpPr/>
          <p:nvPr/>
        </p:nvSpPr>
        <p:spPr>
          <a:xfrm>
            <a:off x="64008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32004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Keskisuuret kasvuyritykset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35844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Midcap-yritykset, jotka laajentavat markkinoitaan.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4379976"/>
            <a:ext cx="457200" cy="457200"/>
          </a:xfrm>
          <a:prstGeom prst="ellipse">
            <a:avLst/>
          </a:prstGeom>
          <a:solidFill>
            <a:srgbClr val="C3932F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12" name="Text 10"/>
          <p:cNvSpPr/>
          <p:nvPr/>
        </p:nvSpPr>
        <p:spPr>
          <a:xfrm>
            <a:off x="640080" y="4379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280160" y="434340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Julkisen sektorin organisaatiot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4727448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Kunnat ja muut julkiset toimijat, jotka uudistavat palveluitaan.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949440" y="1371600"/>
            <a:ext cx="4572000" cy="4206240"/>
          </a:xfrm>
          <a:prstGeom prst="roundRect">
            <a:avLst>
              <a:gd name="adj" fmla="val 2609"/>
            </a:avLst>
          </a:prstGeom>
          <a:solidFill>
            <a:srgbClr val="0C1728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17" name="Text 15"/>
          <p:cNvSpPr/>
          <p:nvPr/>
        </p:nvSpPr>
        <p:spPr>
          <a:xfrm>
            <a:off x="7269480" y="164592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C39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Entä jos yritys on Seinäjoella?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269480" y="237744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FAIR:in palvelut kattavat koko Suomen.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Asiakkuus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ei ole kiinni yrityksen kotipaikasta.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Tampereen yliopisto on FAIR:in partneri. Käytännön työ tehdään etänä ja tarvittaessa paikan päällä.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 tarve osuu paremmin toisen EDIH:n osaamiseen, ohjaamme eteenpäin verkoston sisällä.</a:t>
            </a:r>
            <a:endParaRPr lang="en-US" sz="1600" dirty="0"/>
          </a:p>
        </p:txBody>
      </p:sp>
      <p:pic>
        <p:nvPicPr>
          <p:cNvPr id="19" name="Image 0" descr="assets/eu_fi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053328"/>
            <a:ext cx="566928" cy="576072"/>
          </a:xfrm>
          <a:prstGeom prst="rect">
            <a:avLst/>
          </a:prstGeom>
        </p:spPr>
      </p:pic>
      <p:pic>
        <p:nvPicPr>
          <p:cNvPr id="20" name="Image 1" descr="assets/fair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6199632"/>
            <a:ext cx="914400" cy="274320"/>
          </a:xfrm>
          <a:prstGeom prst="rect">
            <a:avLst/>
          </a:prstGeom>
        </p:spPr>
      </p:pic>
      <p:sp>
        <p:nvSpPr>
          <p:cNvPr id="21" name="Freeform 83">
            <a:extLst>
              <a:ext uri="{FF2B5EF4-FFF2-40B4-BE49-F238E27FC236}">
                <a16:creationId xmlns:a16="http://schemas.microsoft.com/office/drawing/2014/main" id="{DBA971A0-0DB8-513A-D73A-CC3945350E1C}"/>
              </a:ext>
            </a:extLst>
          </p:cNvPr>
          <p:cNvSpPr/>
          <p:nvPr/>
        </p:nvSpPr>
        <p:spPr>
          <a:xfrm>
            <a:off x="10583861" y="5642472"/>
            <a:ext cx="1235077" cy="1114319"/>
          </a:xfrm>
          <a:custGeom>
            <a:avLst/>
            <a:gdLst/>
            <a:ahLst/>
            <a:cxnLst/>
            <a:rect l="l" t="t" r="r" b="b"/>
            <a:pathLst>
              <a:path w="1239711" h="1239711">
                <a:moveTo>
                  <a:pt x="0" y="0"/>
                </a:moveTo>
                <a:lnTo>
                  <a:pt x="1239711" y="0"/>
                </a:lnTo>
                <a:lnTo>
                  <a:pt x="1239711" y="1239711"/>
                </a:lnTo>
                <a:lnTo>
                  <a:pt x="0" y="1239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i-FI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Mitä palveluita tuotamme?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3566160" cy="3246120"/>
          </a:xfrm>
          <a:prstGeom prst="roundRect">
            <a:avLst>
              <a:gd name="adj" fmla="val 3380"/>
            </a:avLst>
          </a:prstGeom>
          <a:solidFill>
            <a:srgbClr val="F1F3F6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4" name="Shape 2"/>
          <p:cNvSpPr/>
          <p:nvPr/>
        </p:nvSpPr>
        <p:spPr>
          <a:xfrm>
            <a:off x="932688" y="1645920"/>
            <a:ext cx="420624" cy="420624"/>
          </a:xfrm>
          <a:prstGeom prst="ellipse">
            <a:avLst/>
          </a:prstGeom>
          <a:solidFill>
            <a:srgbClr val="C3932F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5" name="Text 3"/>
          <p:cNvSpPr/>
          <p:nvPr/>
        </p:nvSpPr>
        <p:spPr>
          <a:xfrm>
            <a:off x="932688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32688" y="2212848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Alustavat arviot ja tarveanalyysit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32688" y="2971800"/>
            <a:ext cx="2980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Tekoälyn kypsyysarvio (AIMA)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Nykytilan ja datavalmiuden kartoitus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Kirjallinen yhteenveto ja suositukset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98848" y="1371600"/>
            <a:ext cx="3566160" cy="3246120"/>
          </a:xfrm>
          <a:prstGeom prst="roundRect">
            <a:avLst>
              <a:gd name="adj" fmla="val 3380"/>
            </a:avLst>
          </a:prstGeom>
          <a:solidFill>
            <a:srgbClr val="F1F3F6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9" name="Shape 7"/>
          <p:cNvSpPr/>
          <p:nvPr/>
        </p:nvSpPr>
        <p:spPr>
          <a:xfrm>
            <a:off x="4791456" y="1645920"/>
            <a:ext cx="420624" cy="420624"/>
          </a:xfrm>
          <a:prstGeom prst="ellipse">
            <a:avLst/>
          </a:prstGeom>
          <a:solidFill>
            <a:srgbClr val="C3932F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10" name="Text 8"/>
          <p:cNvSpPr/>
          <p:nvPr/>
        </p:nvSpPr>
        <p:spPr>
          <a:xfrm>
            <a:off x="4791456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91456" y="2212848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Asiantuntijapalvelut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4791456" y="2971800"/>
            <a:ext cx="2980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Tekoälystrategia ja suunnittelu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EU:n AI Act -valmiusneuvonta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Tekninen ja käyttöönoton neuvonta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Data-analytiikka ja liiketoiminta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357616" y="1371600"/>
            <a:ext cx="3566160" cy="3246120"/>
          </a:xfrm>
          <a:prstGeom prst="roundRect">
            <a:avLst>
              <a:gd name="adj" fmla="val 3380"/>
            </a:avLst>
          </a:prstGeom>
          <a:solidFill>
            <a:srgbClr val="F1F3F6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14" name="Shape 12"/>
          <p:cNvSpPr/>
          <p:nvPr/>
        </p:nvSpPr>
        <p:spPr>
          <a:xfrm>
            <a:off x="8650224" y="1645920"/>
            <a:ext cx="420624" cy="420624"/>
          </a:xfrm>
          <a:prstGeom prst="ellipse">
            <a:avLst/>
          </a:prstGeom>
          <a:solidFill>
            <a:srgbClr val="C3932F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15" name="Text 13"/>
          <p:cNvSpPr/>
          <p:nvPr/>
        </p:nvSpPr>
        <p:spPr>
          <a:xfrm>
            <a:off x="8650224" y="16459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650224" y="2212848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550" b="1" dirty="0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Kehitys, testaus ja rahoitus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8650224" y="2971800"/>
            <a:ext cx="29809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Konseptin todennus (PoC)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Nopeat prototyypit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Adoptoi AI-tutkija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Rahoitusmentorointi ja hackathonit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864608"/>
            <a:ext cx="10881360" cy="868680"/>
          </a:xfrm>
          <a:prstGeom prst="roundRect">
            <a:avLst>
              <a:gd name="adj" fmla="val 10526"/>
            </a:avLst>
          </a:prstGeom>
          <a:solidFill>
            <a:srgbClr val="0C1728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19" name="Text 17"/>
          <p:cNvSpPr/>
          <p:nvPr/>
        </p:nvSpPr>
        <p:spPr>
          <a:xfrm>
            <a:off x="960120" y="4864608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 err="1">
                <a:solidFill>
                  <a:srgbClr val="C3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Kaikille</a:t>
            </a:r>
            <a:r>
              <a:rPr lang="en-US" sz="1400" b="1" dirty="0">
                <a:solidFill>
                  <a:srgbClr val="C3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C3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avoimet</a:t>
            </a:r>
            <a:r>
              <a:rPr lang="en-US" sz="1400" b="1" dirty="0">
                <a:solidFill>
                  <a:srgbClr val="C3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400" b="1" dirty="0" err="1">
                <a:solidFill>
                  <a:srgbClr val="C3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ilmaiset</a:t>
            </a:r>
            <a:r>
              <a:rPr lang="en-US" sz="1400" b="1" dirty="0">
                <a:solidFill>
                  <a:srgbClr val="C3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>
                <a:solidFill>
                  <a:srgbClr val="C3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palvelut</a:t>
            </a:r>
            <a:r>
              <a:rPr lang="en-US" sz="1400" b="1" dirty="0">
                <a:solidFill>
                  <a:srgbClr val="C3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koulutusportaalin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kurssit, AI HelpDesk -neuvonta, tapahtumat ja uutiskirje.</a:t>
            </a:r>
            <a:endParaRPr lang="en-US" sz="1400" dirty="0"/>
          </a:p>
        </p:txBody>
      </p:sp>
      <p:pic>
        <p:nvPicPr>
          <p:cNvPr id="20" name="Image 0" descr="assets/eu_fi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053328"/>
            <a:ext cx="566928" cy="576072"/>
          </a:xfrm>
          <a:prstGeom prst="rect">
            <a:avLst/>
          </a:prstGeom>
        </p:spPr>
      </p:pic>
      <p:pic>
        <p:nvPicPr>
          <p:cNvPr id="21" name="Image 1" descr="assets/fair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6199632"/>
            <a:ext cx="914400" cy="274320"/>
          </a:xfrm>
          <a:prstGeom prst="rect">
            <a:avLst/>
          </a:prstGeom>
        </p:spPr>
      </p:pic>
      <p:sp>
        <p:nvSpPr>
          <p:cNvPr id="22" name="Freeform 83">
            <a:extLst>
              <a:ext uri="{FF2B5EF4-FFF2-40B4-BE49-F238E27FC236}">
                <a16:creationId xmlns:a16="http://schemas.microsoft.com/office/drawing/2014/main" id="{DFAEE669-1ADA-1900-5C9F-5534BF55325B}"/>
              </a:ext>
            </a:extLst>
          </p:cNvPr>
          <p:cNvSpPr/>
          <p:nvPr/>
        </p:nvSpPr>
        <p:spPr>
          <a:xfrm>
            <a:off x="10583861" y="5642472"/>
            <a:ext cx="1235077" cy="1114319"/>
          </a:xfrm>
          <a:custGeom>
            <a:avLst/>
            <a:gdLst/>
            <a:ahLst/>
            <a:cxnLst/>
            <a:rect l="l" t="t" r="r" b="b"/>
            <a:pathLst>
              <a:path w="1239711" h="1239711">
                <a:moveTo>
                  <a:pt x="0" y="0"/>
                </a:moveTo>
                <a:lnTo>
                  <a:pt x="1239711" y="0"/>
                </a:lnTo>
                <a:lnTo>
                  <a:pt x="1239711" y="1239711"/>
                </a:lnTo>
                <a:lnTo>
                  <a:pt x="0" y="1239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i-FI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Mitä nämä maksaisivat avoimilla markkinoilla?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4663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3C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Palvelu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577840" y="137160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D3C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406640" y="137160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3C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Markkina-arvo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92640" y="137160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3C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Hinta sinulle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47088"/>
            <a:ext cx="10881360" cy="512064"/>
          </a:xfrm>
          <a:prstGeom prst="rect">
            <a:avLst/>
          </a:prstGeom>
          <a:solidFill>
            <a:srgbClr val="16263C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8" name="Text 6"/>
          <p:cNvSpPr/>
          <p:nvPr/>
        </p:nvSpPr>
        <p:spPr>
          <a:xfrm>
            <a:off x="822960" y="184708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gradu tai </a:t>
            </a:r>
            <a:r>
              <a:rPr lang="en-US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diplomityö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577840" y="184708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10–12 kk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406640" y="184708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40 000 €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92640" y="184708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3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359152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Adoptoi AI-tutkija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2359152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viikkoa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406640" y="2359152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7 500–16 000 €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692640" y="2359152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3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" y="2871216"/>
            <a:ext cx="10881360" cy="512064"/>
          </a:xfrm>
          <a:prstGeom prst="rect">
            <a:avLst/>
          </a:prstGeom>
          <a:solidFill>
            <a:srgbClr val="16263C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17" name="Text 15"/>
          <p:cNvSpPr/>
          <p:nvPr/>
        </p:nvSpPr>
        <p:spPr>
          <a:xfrm>
            <a:off x="822960" y="2871216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Konseptin todennus (PoC)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577840" y="2871216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viikkoa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406640" y="2871216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7 500–12 500 €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92640" y="2871216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3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3383280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Nopeat prototyypit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577840" y="3383280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kk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406640" y="338328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5 000 €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92640" y="3383280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3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640080" y="3895344"/>
            <a:ext cx="10881360" cy="512064"/>
          </a:xfrm>
          <a:prstGeom prst="rect">
            <a:avLst/>
          </a:prstGeom>
          <a:solidFill>
            <a:srgbClr val="16263C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26" name="Text 24"/>
          <p:cNvSpPr/>
          <p:nvPr/>
        </p:nvSpPr>
        <p:spPr>
          <a:xfrm>
            <a:off x="822960" y="3895344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Tekoälyn kypsyysarvio (AIMA)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577840" y="3895344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tuntia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06640" y="389534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375 €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92640" y="3895344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3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822960" y="4407408"/>
            <a:ext cx="4663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EU:n AI Act -valmiusneuvonta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5577840" y="4407408"/>
            <a:ext cx="1737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tunti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406640" y="440740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9AA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200 €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692640" y="4407408"/>
            <a:ext cx="1645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C393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0 €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40080" y="5257800"/>
            <a:ext cx="950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Lähde: fairedih.fi, Palveluiden arvo. Laajimmissa neuvontatoimeksiannoissa asiakkaan omavastuu voi olla enintään 5 000 €, ja rahoituksen hankintapalveluissa se on puolet arvosta. Kaikki muut yllä olevat ovat asiakkaalle maksuttomia.</a:t>
            </a:r>
            <a:endParaRPr lang="en-US" sz="1050" dirty="0"/>
          </a:p>
        </p:txBody>
      </p:sp>
      <p:pic>
        <p:nvPicPr>
          <p:cNvPr id="35" name="Image 0" descr="assets/fair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1320" y="6172200"/>
            <a:ext cx="960120" cy="365760"/>
          </a:xfrm>
          <a:prstGeom prst="rect">
            <a:avLst/>
          </a:prstGeom>
        </p:spPr>
      </p:pic>
      <p:sp>
        <p:nvSpPr>
          <p:cNvPr id="36" name="Freeform 83">
            <a:extLst>
              <a:ext uri="{FF2B5EF4-FFF2-40B4-BE49-F238E27FC236}">
                <a16:creationId xmlns:a16="http://schemas.microsoft.com/office/drawing/2014/main" id="{39C550CE-C21F-B6A7-D4B6-3536B626514C}"/>
              </a:ext>
            </a:extLst>
          </p:cNvPr>
          <p:cNvSpPr/>
          <p:nvPr/>
        </p:nvSpPr>
        <p:spPr>
          <a:xfrm>
            <a:off x="205421" y="5660858"/>
            <a:ext cx="1235077" cy="1114319"/>
          </a:xfrm>
          <a:custGeom>
            <a:avLst/>
            <a:gdLst/>
            <a:ahLst/>
            <a:cxnLst/>
            <a:rect l="l" t="t" r="r" b="b"/>
            <a:pathLst>
              <a:path w="1239711" h="1239711">
                <a:moveTo>
                  <a:pt x="0" y="0"/>
                </a:moveTo>
                <a:lnTo>
                  <a:pt x="1239711" y="0"/>
                </a:lnTo>
                <a:lnTo>
                  <a:pt x="1239711" y="1239711"/>
                </a:lnTo>
                <a:lnTo>
                  <a:pt x="0" y="12397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fi-FI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Näin pääset alkuun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1F3F6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4" name="Shape 2"/>
          <p:cNvSpPr/>
          <p:nvPr/>
        </p:nvSpPr>
        <p:spPr>
          <a:xfrm>
            <a:off x="914400" y="1783080"/>
            <a:ext cx="475488" cy="475488"/>
          </a:xfrm>
          <a:prstGeom prst="ellipse">
            <a:avLst/>
          </a:prstGeom>
          <a:solidFill>
            <a:srgbClr val="C3932F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5" name="Text 3"/>
          <p:cNvSpPr/>
          <p:nvPr/>
        </p:nvSpPr>
        <p:spPr>
          <a:xfrm>
            <a:off x="914400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Tunnista tarve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83464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Selkeä näkemys siitä, mitä haluat saavuttaa. Ei tarvitse olla valmis tekninen ratkaisu.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150876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1F3F6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9" name="Shape 7"/>
          <p:cNvSpPr/>
          <p:nvPr/>
        </p:nvSpPr>
        <p:spPr>
          <a:xfrm>
            <a:off x="3739896" y="1783080"/>
            <a:ext cx="475488" cy="475488"/>
          </a:xfrm>
          <a:prstGeom prst="ellipse">
            <a:avLst/>
          </a:prstGeom>
          <a:solidFill>
            <a:srgbClr val="C3932F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10" name="Text 8"/>
          <p:cNvSpPr/>
          <p:nvPr/>
        </p:nvSpPr>
        <p:spPr>
          <a:xfrm>
            <a:off x="3739896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739896" y="2377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Täytä hakulomake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739896" y="283464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Lomake löytyy sivulta fairedih.fi. Sen jälkeen teemme tarvekartoituksen ja saat kirjallisen yhteenvedon ja suositukset.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91072" y="150876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1F3F6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14" name="Shape 12"/>
          <p:cNvSpPr/>
          <p:nvPr/>
        </p:nvSpPr>
        <p:spPr>
          <a:xfrm>
            <a:off x="6565392" y="1783080"/>
            <a:ext cx="475488" cy="475488"/>
          </a:xfrm>
          <a:prstGeom prst="ellipse">
            <a:avLst/>
          </a:prstGeom>
          <a:solidFill>
            <a:srgbClr val="C3932F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15" name="Text 13"/>
          <p:cNvSpPr/>
          <p:nvPr/>
        </p:nvSpPr>
        <p:spPr>
          <a:xfrm>
            <a:off x="6565392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65392" y="2377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Asiakkuuspäällikkö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65392" y="283464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 kriteerit täyttyvät, sinulle nimetään asiakkuuspäällikkö, </a:t>
            </a:r>
            <a:r>
              <a:rPr lang="en-US" sz="1200" dirty="0" err="1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joka</a:t>
            </a:r>
            <a:r>
              <a:rPr lang="en-US" sz="12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yhdistää</a:t>
            </a:r>
            <a:r>
              <a:rPr lang="en-US" sz="12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teidät</a:t>
            </a:r>
            <a:r>
              <a:rPr lang="en-US" sz="12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tarpeidenne</a:t>
            </a:r>
            <a:r>
              <a:rPr lang="en-US" sz="12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mukaisten</a:t>
            </a:r>
            <a:r>
              <a:rPr lang="en-US" sz="12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asiantuntijoiden</a:t>
            </a:r>
            <a:r>
              <a:rPr lang="en-US" sz="12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kanssa</a:t>
            </a:r>
            <a:r>
              <a:rPr lang="en-US" sz="12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16568" y="1508760"/>
            <a:ext cx="2606040" cy="3017520"/>
          </a:xfrm>
          <a:prstGeom prst="roundRect">
            <a:avLst>
              <a:gd name="adj" fmla="val 3509"/>
            </a:avLst>
          </a:prstGeom>
          <a:solidFill>
            <a:srgbClr val="F1F3F6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19" name="Shape 17"/>
          <p:cNvSpPr/>
          <p:nvPr/>
        </p:nvSpPr>
        <p:spPr>
          <a:xfrm>
            <a:off x="9390888" y="1783080"/>
            <a:ext cx="475488" cy="475488"/>
          </a:xfrm>
          <a:prstGeom prst="ellipse">
            <a:avLst/>
          </a:prstGeom>
          <a:solidFill>
            <a:srgbClr val="C3932F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20" name="Text 18"/>
          <p:cNvSpPr/>
          <p:nvPr/>
        </p:nvSpPr>
        <p:spPr>
          <a:xfrm>
            <a:off x="9390888" y="17830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390888" y="237744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Ratkaisu ja jatko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390888" y="2834640"/>
            <a:ext cx="20574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Todennamme ratkaisun liiketoiminta-arvon ja autamme tarvittaessa rahoituksen hankinnassa ja kumppanien löytämisessä.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467715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Ensimmäisestä yhteydenotosta työn aloitukseen kuluu </a:t>
            </a:r>
            <a:r>
              <a:rPr lang="en-US" sz="1350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tyypillisesti</a:t>
            </a: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viikoista</a:t>
            </a: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kuukauteen</a:t>
            </a:r>
            <a:r>
              <a:rPr lang="en-US" sz="13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pic>
        <p:nvPicPr>
          <p:cNvPr id="24" name="Image 0" descr="assets/eu_fi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053328"/>
            <a:ext cx="566928" cy="576072"/>
          </a:xfrm>
          <a:prstGeom prst="rect">
            <a:avLst/>
          </a:prstGeom>
        </p:spPr>
      </p:pic>
      <p:pic>
        <p:nvPicPr>
          <p:cNvPr id="25" name="Image 1" descr="assets/fair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6199632"/>
            <a:ext cx="914400" cy="274320"/>
          </a:xfrm>
          <a:prstGeom prst="rect">
            <a:avLst/>
          </a:prstGeom>
        </p:spPr>
      </p:pic>
      <p:sp>
        <p:nvSpPr>
          <p:cNvPr id="26" name="Freeform 83">
            <a:extLst>
              <a:ext uri="{FF2B5EF4-FFF2-40B4-BE49-F238E27FC236}">
                <a16:creationId xmlns:a16="http://schemas.microsoft.com/office/drawing/2014/main" id="{8393DFFD-2332-05AE-EC86-7FBDB3475030}"/>
              </a:ext>
            </a:extLst>
          </p:cNvPr>
          <p:cNvSpPr/>
          <p:nvPr/>
        </p:nvSpPr>
        <p:spPr>
          <a:xfrm>
            <a:off x="10583861" y="5642472"/>
            <a:ext cx="1235077" cy="1114319"/>
          </a:xfrm>
          <a:custGeom>
            <a:avLst/>
            <a:gdLst/>
            <a:ahLst/>
            <a:cxnLst/>
            <a:rect l="l" t="t" r="r" b="b"/>
            <a:pathLst>
              <a:path w="1239711" h="1239711">
                <a:moveTo>
                  <a:pt x="0" y="0"/>
                </a:moveTo>
                <a:lnTo>
                  <a:pt x="1239711" y="0"/>
                </a:lnTo>
                <a:lnTo>
                  <a:pt x="1239711" y="1239711"/>
                </a:lnTo>
                <a:lnTo>
                  <a:pt x="0" y="1239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i-FI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 err="1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Mitä</a:t>
            </a:r>
            <a:r>
              <a:rPr lang="en-US" sz="3400" b="1" dirty="0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400" b="1" dirty="0" err="1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teiltä</a:t>
            </a:r>
            <a:r>
              <a:rPr lang="en-US" sz="3400" b="1" dirty="0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odotetaan?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349240" cy="3657600"/>
          </a:xfrm>
          <a:prstGeom prst="roundRect">
            <a:avLst>
              <a:gd name="adj" fmla="val 3000"/>
            </a:avLst>
          </a:prstGeom>
          <a:solidFill>
            <a:srgbClr val="F1F3F6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4" name="Text 2"/>
          <p:cNvSpPr/>
          <p:nvPr/>
        </p:nvSpPr>
        <p:spPr>
          <a:xfrm>
            <a:off x="960120" y="160020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 haluat asiakkaaksi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2194560"/>
            <a:ext cx="470916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Selkeä tavoite. Tiedät mitä haluat saavuttaa, vaikka ratkaisu </a:t>
            </a:r>
            <a:r>
              <a:rPr lang="en-US" sz="1350" dirty="0" err="1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olisi</a:t>
            </a:r>
            <a:r>
              <a:rPr lang="en-US" sz="13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vielä</a:t>
            </a:r>
            <a:r>
              <a:rPr lang="en-US" sz="13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auki</a:t>
            </a:r>
            <a:r>
              <a:rPr lang="en-US" sz="13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Riittävä tekninen kypsyys. Perusymmärrys tekoälystä ja jonkinlainen data.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Nimetty yhteyshenkilö, jolla on aikaa työskennellä kanssamme.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3741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Valmius jakaa kokemukset. Vaikuttavuustieto on osa EU-rahoituksen ehtoja.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349240" cy="3657600"/>
          </a:xfrm>
          <a:prstGeom prst="roundRect">
            <a:avLst>
              <a:gd name="adj" fmla="val 3000"/>
            </a:avLst>
          </a:prstGeom>
          <a:solidFill>
            <a:srgbClr val="0C1728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7" name="Text 5"/>
          <p:cNvSpPr/>
          <p:nvPr/>
        </p:nvSpPr>
        <p:spPr>
          <a:xfrm>
            <a:off x="6492240" y="160020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C393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Jos et vielä tiedä, tarvitsetko mitään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2331720"/>
            <a:ext cx="4709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HelpDesk vastaa yksittäisiin kysymyksiin ilman asiakkuutta.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Koulutusportaalin kurssit ovat avoimia ja maksuttomia.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Tapahtumat ja uutiskirje pitävät kartalla ilman sitoutumista.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Voit myös vain kysyä. Kartoituskeskustelu ei velvoita mihinkään.</a:t>
            </a:r>
            <a:endParaRPr lang="en-US" sz="1350" dirty="0"/>
          </a:p>
        </p:txBody>
      </p:sp>
      <p:pic>
        <p:nvPicPr>
          <p:cNvPr id="10" name="Image 0" descr="assets/eu_fi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053328"/>
            <a:ext cx="566928" cy="576072"/>
          </a:xfrm>
          <a:prstGeom prst="rect">
            <a:avLst/>
          </a:prstGeom>
        </p:spPr>
      </p:pic>
      <p:pic>
        <p:nvPicPr>
          <p:cNvPr id="11" name="Image 1" descr="assets/fair_da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7320" y="6199632"/>
            <a:ext cx="914400" cy="274320"/>
          </a:xfrm>
          <a:prstGeom prst="rect">
            <a:avLst/>
          </a:prstGeom>
        </p:spPr>
      </p:pic>
      <p:sp>
        <p:nvSpPr>
          <p:cNvPr id="12" name="Freeform 83">
            <a:extLst>
              <a:ext uri="{FF2B5EF4-FFF2-40B4-BE49-F238E27FC236}">
                <a16:creationId xmlns:a16="http://schemas.microsoft.com/office/drawing/2014/main" id="{FC8EBF5E-D576-9824-394D-260CC152BD70}"/>
              </a:ext>
            </a:extLst>
          </p:cNvPr>
          <p:cNvSpPr/>
          <p:nvPr/>
        </p:nvSpPr>
        <p:spPr>
          <a:xfrm>
            <a:off x="10583861" y="5642472"/>
            <a:ext cx="1235077" cy="1114319"/>
          </a:xfrm>
          <a:custGeom>
            <a:avLst/>
            <a:gdLst/>
            <a:ahLst/>
            <a:cxnLst/>
            <a:rect l="l" t="t" r="r" b="b"/>
            <a:pathLst>
              <a:path w="1239711" h="1239711">
                <a:moveTo>
                  <a:pt x="0" y="0"/>
                </a:moveTo>
                <a:lnTo>
                  <a:pt x="1239711" y="0"/>
                </a:lnTo>
                <a:lnTo>
                  <a:pt x="1239711" y="1239711"/>
                </a:lnTo>
                <a:lnTo>
                  <a:pt x="0" y="1239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fi-FI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7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Aloita tästä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3C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Lomakkeen täyttäminen vie noin kymmenen minuuttia eikä sido mihinkään.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2578608"/>
            <a:ext cx="182880" cy="182880"/>
          </a:xfrm>
          <a:prstGeom prst="ellipse">
            <a:avLst/>
          </a:prstGeom>
          <a:solidFill>
            <a:srgbClr val="C3932F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5" name="Text 3"/>
          <p:cNvSpPr/>
          <p:nvPr/>
        </p:nvSpPr>
        <p:spPr>
          <a:xfrm>
            <a:off x="1005840" y="24963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Hae asiakkaaksi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3931920" y="2496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3C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fairedih.fi/ota-yhteytta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182880" cy="182880"/>
          </a:xfrm>
          <a:prstGeom prst="ellipse">
            <a:avLst/>
          </a:prstGeom>
          <a:solidFill>
            <a:srgbClr val="C3932F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8" name="Text 6"/>
          <p:cNvSpPr/>
          <p:nvPr/>
        </p:nvSpPr>
        <p:spPr>
          <a:xfrm>
            <a:off x="1005840" y="3209544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Palvelut ja niiden arvo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931920" y="3209544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3C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fairedih.fi/palveluiden-arvo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005072"/>
            <a:ext cx="182880" cy="182880"/>
          </a:xfrm>
          <a:prstGeom prst="ellipse">
            <a:avLst/>
          </a:prstGeom>
          <a:solidFill>
            <a:srgbClr val="C3932F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11" name="Text 9"/>
          <p:cNvSpPr/>
          <p:nvPr/>
        </p:nvSpPr>
        <p:spPr>
          <a:xfrm>
            <a:off x="1005840" y="3922776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HelpDesk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931920" y="392277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3C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fairedih.fi/ai-helpdesk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718304"/>
            <a:ext cx="182880" cy="182880"/>
          </a:xfrm>
          <a:prstGeom prst="ellipse">
            <a:avLst/>
          </a:prstGeom>
          <a:solidFill>
            <a:srgbClr val="C3932F"/>
          </a:solidFill>
          <a:ln/>
        </p:spPr>
        <p:txBody>
          <a:bodyPr/>
          <a:lstStyle/>
          <a:p>
            <a:endParaRPr lang="fi-FI"/>
          </a:p>
        </p:txBody>
      </p:sp>
      <p:sp>
        <p:nvSpPr>
          <p:cNvPr id="14" name="Text 12"/>
          <p:cNvSpPr/>
          <p:nvPr/>
        </p:nvSpPr>
        <p:spPr>
          <a:xfrm>
            <a:off x="1005840" y="46360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Koulutusportaali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931920" y="463600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D3C1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fair-skills-and-training.web.app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8503920" y="1600200"/>
            <a:ext cx="3017520" cy="35204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fi-FI"/>
          </a:p>
        </p:txBody>
      </p:sp>
      <p:pic>
        <p:nvPicPr>
          <p:cNvPr id="17" name="Image 0" descr="assets/qr_ha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6840" y="1874520"/>
            <a:ext cx="2011680" cy="201168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86800" y="3977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21A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Hae asiakkaaksi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778240" y="43434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Skannaa koodi tai kirjoita osoite selaimeen.</a:t>
            </a:r>
            <a:endParaRPr lang="en-US" sz="1150" dirty="0"/>
          </a:p>
        </p:txBody>
      </p:sp>
      <p:pic>
        <p:nvPicPr>
          <p:cNvPr id="20" name="Image 1" descr="assets/fair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715000"/>
            <a:ext cx="1737360" cy="658368"/>
          </a:xfrm>
          <a:prstGeom prst="rect">
            <a:avLst/>
          </a:prstGeom>
        </p:spPr>
      </p:pic>
      <p:pic>
        <p:nvPicPr>
          <p:cNvPr id="21" name="Image 2" descr="assets/tuni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4640" y="5852160"/>
            <a:ext cx="1417320" cy="457200"/>
          </a:xfrm>
          <a:prstGeom prst="rect">
            <a:avLst/>
          </a:prstGeom>
        </p:spPr>
      </p:pic>
      <p:pic>
        <p:nvPicPr>
          <p:cNvPr id="22" name="Image 3" descr="assets/eu_fi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5715000"/>
            <a:ext cx="658368" cy="667512"/>
          </a:xfrm>
          <a:prstGeom prst="rect">
            <a:avLst/>
          </a:prstGeom>
        </p:spPr>
      </p:pic>
      <p:sp>
        <p:nvSpPr>
          <p:cNvPr id="26" name="Freeform 83">
            <a:extLst>
              <a:ext uri="{FF2B5EF4-FFF2-40B4-BE49-F238E27FC236}">
                <a16:creationId xmlns:a16="http://schemas.microsoft.com/office/drawing/2014/main" id="{B1CB422D-7274-E5A2-11A7-9D42BB52DA4B}"/>
              </a:ext>
            </a:extLst>
          </p:cNvPr>
          <p:cNvSpPr/>
          <p:nvPr/>
        </p:nvSpPr>
        <p:spPr>
          <a:xfrm>
            <a:off x="5715000" y="5523600"/>
            <a:ext cx="1235077" cy="1114319"/>
          </a:xfrm>
          <a:custGeom>
            <a:avLst/>
            <a:gdLst/>
            <a:ahLst/>
            <a:cxnLst/>
            <a:rect l="l" t="t" r="r" b="b"/>
            <a:pathLst>
              <a:path w="1239711" h="1239711">
                <a:moveTo>
                  <a:pt x="0" y="0"/>
                </a:moveTo>
                <a:lnTo>
                  <a:pt x="1239711" y="0"/>
                </a:lnTo>
                <a:lnTo>
                  <a:pt x="1239711" y="1239711"/>
                </a:lnTo>
                <a:lnTo>
                  <a:pt x="0" y="123971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fi-FI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4814fa1-1a0b-42d1-967a-caddbf829325}" enabled="1" method="Standard" siteId="{fa6944af-cc7c-4cd8-9154-c01132798910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919</Words>
  <Application>Microsoft Macintosh PowerPoint</Application>
  <PresentationFormat>Laajakuva</PresentationFormat>
  <Paragraphs>139</Paragraphs>
  <Slides>8</Slides>
  <Notes>8</Notes>
  <HiddenSlides>0</HiddenSlides>
  <MMClips>0</MMClips>
  <ScaleCrop>false</ScaleCrop>
  <HeadingPairs>
    <vt:vector size="6" baseType="variant">
      <vt:variant>
        <vt:lpstr>Käytetyt fontit</vt:lpstr>
      </vt:variant>
      <vt:variant>
        <vt:i4>3</vt:i4>
      </vt:variant>
      <vt:variant>
        <vt:lpstr>Teema</vt:lpstr>
      </vt:variant>
      <vt:variant>
        <vt:i4>1</vt:i4>
      </vt:variant>
      <vt:variant>
        <vt:lpstr>Dian otsikot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  <vt:lpstr>PowerPoint-esitys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Jiri Härmä (TAU)</cp:lastModifiedBy>
  <cp:revision>3</cp:revision>
  <dcterms:created xsi:type="dcterms:W3CDTF">2026-08-06T10:56:59Z</dcterms:created>
  <dcterms:modified xsi:type="dcterms:W3CDTF">2026-08-06T11:17:07Z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Theme:3</vt:lpwstr>
  </property>
  <property fmtid="{D5CDD505-2E9C-101B-9397-08002B2CF9AE}" pid="3" name="ClassificationContentMarkingHeaderText">
    <vt:lpwstr>TUNI Luottamuksellinen - Confidential (3Y)</vt:lpwstr>
  </property>
</Properties>
</file>